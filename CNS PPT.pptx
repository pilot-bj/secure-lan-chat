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1"/>
  </p:notesMasterIdLst>
  <p:sldIdLst>
    <p:sldId id="257" r:id="rId2"/>
    <p:sldId id="259" r:id="rId3"/>
    <p:sldId id="260" r:id="rId4"/>
    <p:sldId id="262" r:id="rId5"/>
    <p:sldId id="263" r:id="rId6"/>
    <p:sldId id="264" r:id="rId7"/>
    <p:sldId id="266" r:id="rId8"/>
    <p:sldId id="269" r:id="rId9"/>
    <p:sldId id="271" r:id="rId10"/>
  </p:sldIdLst>
  <p:sldSz cx="9144000" cy="5143500" type="screen16x9"/>
  <p:notesSz cx="6858000" cy="9144000"/>
  <p:embeddedFontLst>
    <p:embeddedFont>
      <p:font typeface="Arvo" panose="020B0604020202020204" charset="0"/>
      <p:regular r:id="rId12"/>
      <p:bold r:id="rId13"/>
      <p:italic r:id="rId14"/>
      <p:boldItalic r:id="rId15"/>
    </p:embeddedFont>
    <p:embeddedFont>
      <p:font typeface="Roboto Condensed" panose="02000000000000000000" pitchFamily="2" charset="0"/>
      <p:regular r:id="rId16"/>
      <p:bold r:id="rId17"/>
      <p:italic r:id="rId18"/>
      <p:boldItalic r:id="rId19"/>
    </p:embeddedFont>
    <p:embeddedFont>
      <p:font typeface="Roboto Condensed Light" panose="02000000000000000000" pitchFamily="2" charset="0"/>
      <p:regular r:id="rId20"/>
      <p:bold r:id="rId21"/>
      <p:italic r:id="rId22"/>
      <p:boldItalic r:id="rId23"/>
    </p:embeddedFont>
    <p:embeddedFont>
      <p:font typeface="Verdana" panose="020B060403050404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25D08E4-4CB9-4A25-91DF-C19B82DA8EF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1" d="100"/>
          <a:sy n="111" d="100"/>
        </p:scale>
        <p:origin x="63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8.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font" Target="fonts/font16.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1048674"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75"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13272301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04859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59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048617"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18"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048627"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28"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048632"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33"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048645"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46"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048655"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56"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3"/>
        <p:cNvGrpSpPr/>
        <p:nvPr/>
      </p:nvGrpSpPr>
      <p:grpSpPr>
        <a:xfrm>
          <a:off x="0" y="0"/>
          <a:ext cx="0" cy="0"/>
          <a:chOff x="0" y="0"/>
          <a:chExt cx="0" cy="0"/>
        </a:xfrm>
      </p:grpSpPr>
      <p:sp>
        <p:nvSpPr>
          <p:cNvPr id="1048672" name="Google Shape;1444;g657edcabb3_95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73" name="Google Shape;1445;g657edcabb3_95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48579" name="Google Shape;10;p2"/>
          <p:cNvSpPr/>
          <p:nvPr/>
        </p:nvSpPr>
        <p:spPr>
          <a:xfrm>
            <a:off x="7544483" y="657775"/>
            <a:ext cx="1299300" cy="4329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7" name="Google Shape;11;p2"/>
          <p:cNvGrpSpPr/>
          <p:nvPr/>
        </p:nvGrpSpPr>
        <p:grpSpPr>
          <a:xfrm>
            <a:off x="0" y="-7088"/>
            <a:ext cx="8661398" cy="5150588"/>
            <a:chOff x="0" y="-7088"/>
            <a:chExt cx="8661398" cy="5150588"/>
          </a:xfrm>
        </p:grpSpPr>
        <p:sp>
          <p:nvSpPr>
            <p:cNvPr id="1048580" name="Google Shape;12;p2"/>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81" name="Google Shape;13;p2"/>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8" name="Google Shape;14;p2"/>
          <p:cNvGrpSpPr/>
          <p:nvPr/>
        </p:nvGrpSpPr>
        <p:grpSpPr>
          <a:xfrm rot="10800000" flipH="1">
            <a:off x="1" y="1090763"/>
            <a:ext cx="8847502" cy="2961975"/>
            <a:chOff x="-8178042" y="-4493254"/>
            <a:chExt cx="19483598" cy="6522736"/>
          </a:xfrm>
        </p:grpSpPr>
        <p:sp>
          <p:nvSpPr>
            <p:cNvPr id="1048582" name="Google Shape;15;p2"/>
            <p:cNvSpPr/>
            <p:nvPr/>
          </p:nvSpPr>
          <p:spPr>
            <a:xfrm>
              <a:off x="-8178042" y="-4493118"/>
              <a:ext cx="129684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048583" name="Google Shape;16;p2"/>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9" name="Google Shape;17;p2"/>
          <p:cNvGrpSpPr/>
          <p:nvPr/>
        </p:nvGrpSpPr>
        <p:grpSpPr>
          <a:xfrm>
            <a:off x="3677236" y="4278349"/>
            <a:ext cx="5480829" cy="432996"/>
            <a:chOff x="5582265" y="4646738"/>
            <a:chExt cx="5480829" cy="432996"/>
          </a:xfrm>
        </p:grpSpPr>
        <p:sp>
          <p:nvSpPr>
            <p:cNvPr id="1048584" name="Google Shape;18;p2"/>
            <p:cNvSpPr/>
            <p:nvPr/>
          </p:nvSpPr>
          <p:spPr>
            <a:xfrm rot="10800000">
              <a:off x="5582265"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 name="Google Shape;19;p2"/>
            <p:cNvGrpSpPr/>
            <p:nvPr/>
          </p:nvGrpSpPr>
          <p:grpSpPr>
            <a:xfrm flipH="1">
              <a:off x="5585232" y="4646738"/>
              <a:ext cx="5477861" cy="304551"/>
              <a:chOff x="-24158748" y="330075"/>
              <a:chExt cx="30568423" cy="1699506"/>
            </a:xfrm>
          </p:grpSpPr>
          <p:sp>
            <p:nvSpPr>
              <p:cNvPr id="1048585" name="Google Shape;20;p2"/>
              <p:cNvSpPr/>
              <p:nvPr/>
            </p:nvSpPr>
            <p:spPr>
              <a:xfrm>
                <a:off x="-24158748" y="330081"/>
                <a:ext cx="289080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86" name="Google Shape;21;p2"/>
              <p:cNvSpPr/>
              <p:nvPr/>
            </p:nvSpPr>
            <p:spPr>
              <a:xfrm>
                <a:off x="4710175"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8587"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81"/>
        <p:cNvGrpSpPr/>
        <p:nvPr/>
      </p:nvGrpSpPr>
      <p:grpSpPr>
        <a:xfrm>
          <a:off x="0" y="0"/>
          <a:ext cx="0" cy="0"/>
          <a:chOff x="0" y="0"/>
          <a:chExt cx="0" cy="0"/>
        </a:xfrm>
      </p:grpSpPr>
      <p:grpSp>
        <p:nvGrpSpPr>
          <p:cNvPr id="29" name="Google Shape;82;p6"/>
          <p:cNvGrpSpPr/>
          <p:nvPr/>
        </p:nvGrpSpPr>
        <p:grpSpPr>
          <a:xfrm>
            <a:off x="-4" y="40"/>
            <a:ext cx="7072430" cy="1327315"/>
            <a:chOff x="-4" y="40"/>
            <a:chExt cx="7072430" cy="1327315"/>
          </a:xfrm>
        </p:grpSpPr>
        <p:sp>
          <p:nvSpPr>
            <p:cNvPr id="1048593" name="Google Shape;83;p6"/>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30" name="Google Shape;84;p6"/>
            <p:cNvGrpSpPr/>
            <p:nvPr/>
          </p:nvGrpSpPr>
          <p:grpSpPr>
            <a:xfrm rot="10800000" flipH="1">
              <a:off x="3" y="40"/>
              <a:ext cx="6756168" cy="1327315"/>
              <a:chOff x="-2168138" y="330075"/>
              <a:chExt cx="8650663" cy="1699506"/>
            </a:xfrm>
          </p:grpSpPr>
          <p:sp>
            <p:nvSpPr>
              <p:cNvPr id="1048594" name="Google Shape;85;p6"/>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048595" name="Google Shape;86;p6"/>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31" name="Google Shape;87;p6"/>
            <p:cNvGrpSpPr/>
            <p:nvPr/>
          </p:nvGrpSpPr>
          <p:grpSpPr>
            <a:xfrm rot="10800000" flipH="1">
              <a:off x="-4" y="381007"/>
              <a:ext cx="7072430" cy="771744"/>
              <a:chOff x="-9092084" y="330075"/>
              <a:chExt cx="15574609" cy="1699501"/>
            </a:xfrm>
          </p:grpSpPr>
          <p:sp>
            <p:nvSpPr>
              <p:cNvPr id="1048596" name="Google Shape;88;p6"/>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048597" name="Google Shape;89;p6"/>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32" name="Google Shape;90;p6"/>
          <p:cNvGrpSpPr/>
          <p:nvPr/>
        </p:nvGrpSpPr>
        <p:grpSpPr>
          <a:xfrm>
            <a:off x="6946842" y="4472723"/>
            <a:ext cx="2202830" cy="670795"/>
            <a:chOff x="5575242" y="4472723"/>
            <a:chExt cx="2202830" cy="670795"/>
          </a:xfrm>
        </p:grpSpPr>
        <p:sp>
          <p:nvSpPr>
            <p:cNvPr id="1048598" name="Google Shape;91;p6"/>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92;p6"/>
            <p:cNvGrpSpPr/>
            <p:nvPr/>
          </p:nvGrpSpPr>
          <p:grpSpPr>
            <a:xfrm flipH="1">
              <a:off x="5734850" y="4472723"/>
              <a:ext cx="2040837" cy="670795"/>
              <a:chOff x="1297954" y="330075"/>
              <a:chExt cx="5169293" cy="1699506"/>
            </a:xfrm>
          </p:grpSpPr>
          <p:sp>
            <p:nvSpPr>
              <p:cNvPr id="1048599" name="Google Shape;93;p6"/>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00" name="Google Shape;94;p6"/>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95;p6"/>
            <p:cNvGrpSpPr/>
            <p:nvPr/>
          </p:nvGrpSpPr>
          <p:grpSpPr>
            <a:xfrm flipH="1">
              <a:off x="5578209" y="4646738"/>
              <a:ext cx="2199863" cy="304563"/>
              <a:chOff x="-5827153" y="330075"/>
              <a:chExt cx="12276019" cy="1699569"/>
            </a:xfrm>
          </p:grpSpPr>
          <p:sp>
            <p:nvSpPr>
              <p:cNvPr id="1048601" name="Google Shape;96;p6"/>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02" name="Google Shape;97;p6"/>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8603" name="Google Shape;98;p6"/>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lvl1pPr>
            <a:lvl2pPr lvl="1">
              <a:spcBef>
                <a:spcPts val="0"/>
              </a:spcBef>
              <a:spcAft>
                <a:spcPts val="0"/>
              </a:spcAft>
              <a:buSzPts val="2000"/>
              <a:buNone/>
            </a:lvl2pPr>
            <a:lvl3pPr lvl="2">
              <a:spcBef>
                <a:spcPts val="0"/>
              </a:spcBef>
              <a:spcAft>
                <a:spcPts val="0"/>
              </a:spcAft>
              <a:buSzPts val="2000"/>
              <a:buNone/>
            </a:lvl3pPr>
            <a:lvl4pPr lvl="3">
              <a:spcBef>
                <a:spcPts val="0"/>
              </a:spcBef>
              <a:spcAft>
                <a:spcPts val="0"/>
              </a:spcAft>
              <a:buSzPts val="2000"/>
              <a:buNone/>
            </a:lvl4pPr>
            <a:lvl5pPr lvl="4">
              <a:spcBef>
                <a:spcPts val="0"/>
              </a:spcBef>
              <a:spcAft>
                <a:spcPts val="0"/>
              </a:spcAft>
              <a:buSzPts val="2000"/>
              <a:buNone/>
            </a:lvl5pPr>
            <a:lvl6pPr lvl="5">
              <a:spcBef>
                <a:spcPts val="0"/>
              </a:spcBef>
              <a:spcAft>
                <a:spcPts val="0"/>
              </a:spcAft>
              <a:buSzPts val="2000"/>
              <a:buNone/>
            </a:lvl6pPr>
            <a:lvl7pPr lvl="6">
              <a:spcBef>
                <a:spcPts val="0"/>
              </a:spcBef>
              <a:spcAft>
                <a:spcPts val="0"/>
              </a:spcAft>
              <a:buSzPts val="2000"/>
              <a:buNone/>
            </a:lvl7pPr>
            <a:lvl8pPr lvl="7">
              <a:spcBef>
                <a:spcPts val="0"/>
              </a:spcBef>
              <a:spcAft>
                <a:spcPts val="0"/>
              </a:spcAft>
              <a:buSzPts val="2000"/>
              <a:buNone/>
            </a:lvl8pPr>
            <a:lvl9pPr lvl="8">
              <a:spcBef>
                <a:spcPts val="0"/>
              </a:spcBef>
              <a:spcAft>
                <a:spcPts val="0"/>
              </a:spcAft>
              <a:buSzPts val="2000"/>
              <a:buNone/>
            </a:lvl9pPr>
          </a:lstStyle>
          <a:p>
            <a:endParaRPr/>
          </a:p>
        </p:txBody>
      </p:sp>
      <p:sp>
        <p:nvSpPr>
          <p:cNvPr id="1048604" name="Google Shape;99;p6"/>
          <p:cNvSpPr txBox="1">
            <a:spLocks noGrp="1"/>
          </p:cNvSpPr>
          <p:nvPr>
            <p:ph type="body" idx="1"/>
          </p:nvPr>
        </p:nvSpPr>
        <p:spPr>
          <a:xfrm>
            <a:off x="814275" y="1537988"/>
            <a:ext cx="3378300" cy="27243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48605" name="Google Shape;100;p6"/>
          <p:cNvSpPr txBox="1">
            <a:spLocks noGrp="1"/>
          </p:cNvSpPr>
          <p:nvPr>
            <p:ph type="body" idx="2"/>
          </p:nvPr>
        </p:nvSpPr>
        <p:spPr>
          <a:xfrm>
            <a:off x="4396123" y="1537988"/>
            <a:ext cx="3378300" cy="27243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48606" name="Google Shape;101;p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2"/>
        <p:cNvGrpSpPr/>
        <p:nvPr/>
      </p:nvGrpSpPr>
      <p:grpSpPr>
        <a:xfrm>
          <a:off x="0" y="0"/>
          <a:ext cx="0" cy="0"/>
          <a:chOff x="0" y="0"/>
          <a:chExt cx="0" cy="0"/>
        </a:xfrm>
      </p:grpSpPr>
      <p:grpSp>
        <p:nvGrpSpPr>
          <p:cNvPr id="64" name="Google Shape;163;p10"/>
          <p:cNvGrpSpPr/>
          <p:nvPr/>
        </p:nvGrpSpPr>
        <p:grpSpPr>
          <a:xfrm rot="10800000">
            <a:off x="-8" y="-2"/>
            <a:ext cx="2202830" cy="670795"/>
            <a:chOff x="5575242" y="4472723"/>
            <a:chExt cx="2202830" cy="670795"/>
          </a:xfrm>
        </p:grpSpPr>
        <p:sp>
          <p:nvSpPr>
            <p:cNvPr id="1048660" name="Google Shape;164;p10"/>
            <p:cNvSpPr/>
            <p:nvPr/>
          </p:nvSpPr>
          <p:spPr>
            <a:xfrm rot="10800000">
              <a:off x="5575242" y="4948334"/>
              <a:ext cx="394200" cy="1314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 name="Google Shape;165;p10"/>
            <p:cNvGrpSpPr/>
            <p:nvPr/>
          </p:nvGrpSpPr>
          <p:grpSpPr>
            <a:xfrm flipH="1">
              <a:off x="5734850" y="4472723"/>
              <a:ext cx="2040837" cy="670795"/>
              <a:chOff x="1297954" y="330075"/>
              <a:chExt cx="5169293" cy="1699506"/>
            </a:xfrm>
          </p:grpSpPr>
          <p:sp>
            <p:nvSpPr>
              <p:cNvPr id="1048661" name="Google Shape;166;p10"/>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62" name="Google Shape;167;p10"/>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 name="Google Shape;168;p10"/>
            <p:cNvGrpSpPr/>
            <p:nvPr/>
          </p:nvGrpSpPr>
          <p:grpSpPr>
            <a:xfrm flipH="1">
              <a:off x="5578209" y="4646738"/>
              <a:ext cx="2199863" cy="304563"/>
              <a:chOff x="-5827153" y="330075"/>
              <a:chExt cx="12276019" cy="1699569"/>
            </a:xfrm>
          </p:grpSpPr>
          <p:sp>
            <p:nvSpPr>
              <p:cNvPr id="1048663" name="Google Shape;169;p10"/>
              <p:cNvSpPr/>
              <p:nvPr/>
            </p:nvSpPr>
            <p:spPr>
              <a:xfrm>
                <a:off x="-5827153" y="330144"/>
                <a:ext cx="1061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64" name="Google Shape;170;p10"/>
              <p:cNvSpPr/>
              <p:nvPr/>
            </p:nvSpPr>
            <p:spPr>
              <a:xfrm>
                <a:off x="4749366"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7" name="Google Shape;171;p10"/>
          <p:cNvGrpSpPr/>
          <p:nvPr/>
        </p:nvGrpSpPr>
        <p:grpSpPr>
          <a:xfrm>
            <a:off x="6946842" y="4472723"/>
            <a:ext cx="2202830" cy="670795"/>
            <a:chOff x="5575242" y="4472723"/>
            <a:chExt cx="2202830" cy="670795"/>
          </a:xfrm>
        </p:grpSpPr>
        <p:sp>
          <p:nvSpPr>
            <p:cNvPr id="1048665" name="Google Shape;172;p10"/>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 name="Google Shape;173;p10"/>
            <p:cNvGrpSpPr/>
            <p:nvPr/>
          </p:nvGrpSpPr>
          <p:grpSpPr>
            <a:xfrm flipH="1">
              <a:off x="5734850" y="4472723"/>
              <a:ext cx="2040837" cy="670795"/>
              <a:chOff x="1297954" y="330075"/>
              <a:chExt cx="5169293" cy="1699506"/>
            </a:xfrm>
          </p:grpSpPr>
          <p:sp>
            <p:nvSpPr>
              <p:cNvPr id="1048666" name="Google Shape;174;p10"/>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67" name="Google Shape;175;p10"/>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176;p10"/>
            <p:cNvGrpSpPr/>
            <p:nvPr/>
          </p:nvGrpSpPr>
          <p:grpSpPr>
            <a:xfrm flipH="1">
              <a:off x="5578209" y="4646738"/>
              <a:ext cx="2199863" cy="304563"/>
              <a:chOff x="-5827153" y="330075"/>
              <a:chExt cx="12276019" cy="1699569"/>
            </a:xfrm>
          </p:grpSpPr>
          <p:sp>
            <p:nvSpPr>
              <p:cNvPr id="1048668" name="Google Shape;177;p10"/>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69" name="Google Shape;178;p10"/>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8670" name="Google Shape;179;p10"/>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104857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1pPr>
            <a:lvl2pPr lvl="1">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2pPr>
            <a:lvl3pPr lvl="2">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3pPr>
            <a:lvl4pPr lvl="3">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4pPr>
            <a:lvl5pPr lvl="4">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5pPr>
            <a:lvl6pPr lvl="5">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6pPr>
            <a:lvl7pPr lvl="6">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7pPr>
            <a:lvl8pPr lvl="7">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8pPr>
            <a:lvl9pPr lvl="8">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9pPr>
          </a:lstStyle>
          <a:p>
            <a:endParaRPr/>
          </a:p>
        </p:txBody>
      </p:sp>
      <p:sp>
        <p:nvSpPr>
          <p:cNvPr id="104857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noAutofit/>
          </a:bodyPr>
          <a:lstStyle>
            <a:lvl1pPr marL="457200" lvl="0" indent="-381000">
              <a:spcBef>
                <a:spcPts val="6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1pPr>
            <a:lvl2pPr marL="914400" lvl="1"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2pPr>
            <a:lvl3pPr marL="1371600" lvl="2"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3pPr>
            <a:lvl4pPr marL="1828800" lvl="3"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4pPr>
            <a:lvl5pPr marL="2286000" lvl="4"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5pPr>
            <a:lvl6pPr marL="2743200" lvl="5"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6pPr>
            <a:lvl7pPr marL="3200400" lvl="6"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7pPr>
            <a:lvl8pPr marL="3657600" lvl="7"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8pPr>
            <a:lvl9pPr marL="4114800" lvl="8" indent="-381000">
              <a:spcBef>
                <a:spcPts val="1000"/>
              </a:spcBef>
              <a:spcAft>
                <a:spcPts val="100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9pPr>
          </a:lstStyle>
          <a:p>
            <a:endParaRPr/>
          </a:p>
        </p:txBody>
      </p:sp>
      <p:sp>
        <p:nvSpPr>
          <p:cNvPr id="104857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chemeClr val="lt1"/>
                </a:solidFill>
                <a:latin typeface="Roboto Condensed"/>
                <a:ea typeface="Roboto Condensed"/>
                <a:cs typeface="Roboto Condensed"/>
                <a:sym typeface="Roboto Condensed"/>
              </a:defRPr>
            </a:lvl1pPr>
            <a:lvl2pPr lvl="1" algn="r">
              <a:buNone/>
              <a:defRPr sz="1200" b="1">
                <a:solidFill>
                  <a:schemeClr val="lt1"/>
                </a:solidFill>
                <a:latin typeface="Roboto Condensed"/>
                <a:ea typeface="Roboto Condensed"/>
                <a:cs typeface="Roboto Condensed"/>
                <a:sym typeface="Roboto Condensed"/>
              </a:defRPr>
            </a:lvl2pPr>
            <a:lvl3pPr lvl="2" algn="r">
              <a:buNone/>
              <a:defRPr sz="1200" b="1">
                <a:solidFill>
                  <a:schemeClr val="lt1"/>
                </a:solidFill>
                <a:latin typeface="Roboto Condensed"/>
                <a:ea typeface="Roboto Condensed"/>
                <a:cs typeface="Roboto Condensed"/>
                <a:sym typeface="Roboto Condensed"/>
              </a:defRPr>
            </a:lvl3pPr>
            <a:lvl4pPr lvl="3" algn="r">
              <a:buNone/>
              <a:defRPr sz="1200" b="1">
                <a:solidFill>
                  <a:schemeClr val="lt1"/>
                </a:solidFill>
                <a:latin typeface="Roboto Condensed"/>
                <a:ea typeface="Roboto Condensed"/>
                <a:cs typeface="Roboto Condensed"/>
                <a:sym typeface="Roboto Condensed"/>
              </a:defRPr>
            </a:lvl4pPr>
            <a:lvl5pPr lvl="4" algn="r">
              <a:buNone/>
              <a:defRPr sz="1200" b="1">
                <a:solidFill>
                  <a:schemeClr val="lt1"/>
                </a:solidFill>
                <a:latin typeface="Roboto Condensed"/>
                <a:ea typeface="Roboto Condensed"/>
                <a:cs typeface="Roboto Condensed"/>
                <a:sym typeface="Roboto Condensed"/>
              </a:defRPr>
            </a:lvl5pPr>
            <a:lvl6pPr lvl="5" algn="r">
              <a:buNone/>
              <a:defRPr sz="1200" b="1">
                <a:solidFill>
                  <a:schemeClr val="lt1"/>
                </a:solidFill>
                <a:latin typeface="Roboto Condensed"/>
                <a:ea typeface="Roboto Condensed"/>
                <a:cs typeface="Roboto Condensed"/>
                <a:sym typeface="Roboto Condensed"/>
              </a:defRPr>
            </a:lvl6pPr>
            <a:lvl7pPr lvl="6" algn="r">
              <a:buNone/>
              <a:defRPr sz="1200" b="1">
                <a:solidFill>
                  <a:schemeClr val="lt1"/>
                </a:solidFill>
                <a:latin typeface="Roboto Condensed"/>
                <a:ea typeface="Roboto Condensed"/>
                <a:cs typeface="Roboto Condensed"/>
                <a:sym typeface="Roboto Condensed"/>
              </a:defRPr>
            </a:lvl7pPr>
            <a:lvl8pPr lvl="7" algn="r">
              <a:buNone/>
              <a:defRPr sz="1200" b="1">
                <a:solidFill>
                  <a:schemeClr val="lt1"/>
                </a:solidFill>
                <a:latin typeface="Roboto Condensed"/>
                <a:ea typeface="Roboto Condensed"/>
                <a:cs typeface="Roboto Condensed"/>
                <a:sym typeface="Roboto Condensed"/>
              </a:defRPr>
            </a:lvl8pPr>
            <a:lvl9pPr lvl="8" algn="r">
              <a:buNone/>
              <a:defRPr sz="1200" b="1">
                <a:solidFill>
                  <a:schemeClr val="lt1"/>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lang="e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048588" name="Google Shape;184;p11"/>
          <p:cNvSpPr txBox="1">
            <a:spLocks noGrp="1"/>
          </p:cNvSpPr>
          <p:nvPr>
            <p:ph type="ctrTitle"/>
          </p:nvPr>
        </p:nvSpPr>
        <p:spPr>
          <a:xfrm>
            <a:off x="179512" y="689970"/>
            <a:ext cx="7558608" cy="2961900"/>
          </a:xfrm>
          <a:prstGeom prst="rect">
            <a:avLst/>
          </a:prstGeom>
        </p:spPr>
        <p:txBody>
          <a:bodyPr spcFirstLastPara="1" wrap="square" lIns="91425" tIns="91425" rIns="91425" bIns="91425" anchor="ctr" anchorCtr="0">
            <a:noAutofit/>
          </a:bodyPr>
          <a:lstStyle/>
          <a:p>
            <a:pPr lvl="0"/>
            <a:r>
              <a:rPr lang="en-IN" sz="2800" dirty="0">
                <a:latin typeface="Times New Roman" panose="02020603050405020304" pitchFamily="18" charset="0"/>
                <a:cs typeface="Times New Roman" panose="02020603050405020304" pitchFamily="18" charset="0"/>
              </a:rPr>
              <a:t>Secure LAN Chat Using AES Encryption</a:t>
            </a:r>
            <a:endParaRPr sz="2800" dirty="0">
              <a:latin typeface="Times New Roman" panose="02020603050405020304" pitchFamily="18" charset="0"/>
              <a:cs typeface="Times New Roman" panose="02020603050405020304" pitchFamily="18" charset="0"/>
            </a:endParaRPr>
          </a:p>
        </p:txBody>
      </p:sp>
      <p:sp>
        <p:nvSpPr>
          <p:cNvPr id="1048590" name="Espace réservé du texte 4"/>
          <p:cNvSpPr txBox="1"/>
          <p:nvPr/>
        </p:nvSpPr>
        <p:spPr>
          <a:xfrm>
            <a:off x="6300192" y="3651870"/>
            <a:ext cx="3240360" cy="162817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spcBef>
                <a:spcPct val="20000"/>
              </a:spcBef>
              <a:buClrTx/>
            </a:pPr>
            <a:r>
              <a:rPr lang="en-US" sz="1800" kern="1200" dirty="0">
                <a:latin typeface="Times New Roman" panose="02020603050405020304" pitchFamily="18" charset="0"/>
                <a:ea typeface="Verdana" pitchFamily="34" charset="0"/>
                <a:cs typeface="Times New Roman" panose="02020603050405020304" pitchFamily="18" charset="0"/>
              </a:rPr>
              <a:t>Benedict Joshua M,</a:t>
            </a:r>
          </a:p>
          <a:p>
            <a:pPr lvl="0">
              <a:spcBef>
                <a:spcPct val="20000"/>
              </a:spcBef>
              <a:buClrTx/>
            </a:pPr>
            <a:r>
              <a:rPr lang="en-US" sz="1800" kern="1200" dirty="0" err="1">
                <a:latin typeface="Times New Roman" panose="02020603050405020304" pitchFamily="18" charset="0"/>
                <a:ea typeface="Verdana" pitchFamily="34" charset="0"/>
                <a:cs typeface="Times New Roman" panose="02020603050405020304" pitchFamily="18" charset="0"/>
              </a:rPr>
              <a:t>Priyadarsan</a:t>
            </a:r>
            <a:r>
              <a:rPr lang="en-US" sz="1800" kern="1200" dirty="0">
                <a:latin typeface="Times New Roman" panose="02020603050405020304" pitchFamily="18" charset="0"/>
                <a:ea typeface="Verdana" pitchFamily="34" charset="0"/>
                <a:cs typeface="Times New Roman" panose="02020603050405020304" pitchFamily="18" charset="0"/>
              </a:rPr>
              <a:t> A</a:t>
            </a:r>
            <a:br>
              <a:rPr lang="en-US" sz="1800" dirty="0">
                <a:latin typeface="Times New Roman" panose="02020603050405020304" pitchFamily="18" charset="0"/>
                <a:ea typeface="Verdana" pitchFamily="34" charset="0"/>
                <a:cs typeface="Times New Roman" panose="02020603050405020304" pitchFamily="18" charset="0"/>
              </a:rPr>
            </a:br>
            <a:r>
              <a:rPr lang="en-US" sz="1800" kern="1200" dirty="0">
                <a:latin typeface="Times New Roman" panose="02020603050405020304" pitchFamily="18" charset="0"/>
                <a:ea typeface="Verdana" pitchFamily="34" charset="0"/>
                <a:cs typeface="Times New Roman" panose="02020603050405020304" pitchFamily="18" charset="0"/>
              </a:rPr>
              <a:t>Class Section (III AI &amp; DS A)</a:t>
            </a:r>
          </a:p>
          <a:p>
            <a:pPr lvl="0">
              <a:spcBef>
                <a:spcPct val="20000"/>
              </a:spcBef>
              <a:buClrTx/>
            </a:pPr>
            <a:r>
              <a:rPr lang="en-US" sz="1800" kern="1200" dirty="0">
                <a:latin typeface="Times New Roman" panose="02020603050405020304" pitchFamily="18" charset="0"/>
                <a:ea typeface="Verdana" pitchFamily="34" charset="0"/>
                <a:cs typeface="Times New Roman" panose="02020603050405020304" pitchFamily="18" charset="0"/>
              </a:rPr>
              <a:t>2024-2028 Batch</a:t>
            </a:r>
          </a:p>
        </p:txBody>
      </p:sp>
      <p:pic>
        <p:nvPicPr>
          <p:cNvPr id="2097152" name="Picture 2" descr="C:\Users\Sou Jana\Desktop\thumbnail_Outlook-zw4menww.jpg"/>
          <p:cNvPicPr>
            <a:picLocks noChangeAspect="1" noChangeArrowheads="1"/>
          </p:cNvPicPr>
          <p:nvPr/>
        </p:nvPicPr>
        <p:blipFill>
          <a:blip r:embed="rId3"/>
          <a:srcRect/>
          <a:stretch>
            <a:fillRect/>
          </a:stretch>
        </p:blipFill>
        <p:spPr bwMode="auto">
          <a:xfrm>
            <a:off x="0" y="0"/>
            <a:ext cx="3357554" cy="857238"/>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Title 1"/>
          <p:cNvSpPr>
            <a:spLocks noGrp="1"/>
          </p:cNvSpPr>
          <p:nvPr>
            <p:ph type="title"/>
          </p:nvPr>
        </p:nvSpPr>
        <p:spPr>
          <a:xfrm>
            <a:off x="814274" y="392575"/>
            <a:ext cx="5815125" cy="766200"/>
          </a:xfrm>
        </p:spPr>
        <p:txBody>
          <a:bodyPr/>
          <a:lstStyle/>
          <a:p>
            <a:r>
              <a:rPr lang="en-US" dirty="0">
                <a:latin typeface="Verdana" pitchFamily="34" charset="0"/>
                <a:ea typeface="Verdana" pitchFamily="34" charset="0"/>
                <a:cs typeface="Verdana" pitchFamily="34" charset="0"/>
              </a:rPr>
              <a:t>CONTENTS</a:t>
            </a:r>
            <a:endParaRPr lang="en-US" dirty="0"/>
          </a:p>
        </p:txBody>
      </p:sp>
      <p:sp>
        <p:nvSpPr>
          <p:cNvPr id="1048611" name="Text Placeholder 2"/>
          <p:cNvSpPr>
            <a:spLocks noGrp="1"/>
          </p:cNvSpPr>
          <p:nvPr>
            <p:ph type="body" idx="1"/>
          </p:nvPr>
        </p:nvSpPr>
        <p:spPr>
          <a:xfrm>
            <a:off x="814275" y="1537988"/>
            <a:ext cx="5969272" cy="2724300"/>
          </a:xfrm>
        </p:spPr>
        <p:txBody>
          <a:bodyPr/>
          <a:lstStyle/>
          <a:p>
            <a:pPr lvl="0"/>
            <a:r>
              <a:rPr lang="fr-FR" sz="2100" dirty="0" err="1">
                <a:latin typeface="Verdana" pitchFamily="34" charset="0"/>
                <a:ea typeface="Verdana" pitchFamily="34" charset="0"/>
                <a:cs typeface="Verdana" pitchFamily="34" charset="0"/>
              </a:rPr>
              <a:t>Problem</a:t>
            </a:r>
            <a:r>
              <a:rPr lang="fr-FR" sz="2100" dirty="0">
                <a:latin typeface="Verdana" pitchFamily="34" charset="0"/>
                <a:ea typeface="Verdana" pitchFamily="34" charset="0"/>
                <a:cs typeface="Verdana" pitchFamily="34" charset="0"/>
              </a:rPr>
              <a:t> </a:t>
            </a:r>
            <a:r>
              <a:rPr lang="fr-FR" sz="2100" dirty="0" err="1">
                <a:latin typeface="Verdana" pitchFamily="34" charset="0"/>
                <a:ea typeface="Verdana" pitchFamily="34" charset="0"/>
                <a:cs typeface="Verdana" pitchFamily="34" charset="0"/>
              </a:rPr>
              <a:t>Statement</a:t>
            </a:r>
            <a:endParaRPr lang="fr-FR" sz="2100" dirty="0">
              <a:latin typeface="Verdana" pitchFamily="34" charset="0"/>
              <a:ea typeface="Verdana" pitchFamily="34" charset="0"/>
              <a:cs typeface="Verdana" pitchFamily="34" charset="0"/>
            </a:endParaRPr>
          </a:p>
          <a:p>
            <a:pPr lvl="0"/>
            <a:r>
              <a:rPr lang="fr-FR" sz="2100" dirty="0">
                <a:latin typeface="Verdana" pitchFamily="34" charset="0"/>
                <a:ea typeface="Verdana" pitchFamily="34" charset="0"/>
                <a:cs typeface="Verdana" pitchFamily="34" charset="0"/>
              </a:rPr>
              <a:t>Objectives</a:t>
            </a:r>
          </a:p>
          <a:p>
            <a:pPr lvl="0"/>
            <a:r>
              <a:rPr lang="fr-FR" sz="2100" dirty="0" err="1">
                <a:latin typeface="Verdana" pitchFamily="34" charset="0"/>
                <a:ea typeface="Verdana" pitchFamily="34" charset="0"/>
                <a:cs typeface="Verdana" pitchFamily="34" charset="0"/>
              </a:rPr>
              <a:t>Requirement</a:t>
            </a:r>
            <a:r>
              <a:rPr lang="fr-FR" sz="2100" dirty="0">
                <a:latin typeface="Verdana" pitchFamily="34" charset="0"/>
                <a:ea typeface="Verdana" pitchFamily="34" charset="0"/>
                <a:cs typeface="Verdana" pitchFamily="34" charset="0"/>
              </a:rPr>
              <a:t> </a:t>
            </a:r>
            <a:r>
              <a:rPr lang="fr-FR" sz="2100" dirty="0" err="1">
                <a:latin typeface="Verdana" pitchFamily="34" charset="0"/>
                <a:ea typeface="Verdana" pitchFamily="34" charset="0"/>
                <a:cs typeface="Verdana" pitchFamily="34" charset="0"/>
              </a:rPr>
              <a:t>Specification</a:t>
            </a:r>
            <a:endParaRPr lang="fr-FR" sz="2100" dirty="0">
              <a:latin typeface="Verdana" pitchFamily="34" charset="0"/>
              <a:ea typeface="Verdana" pitchFamily="34" charset="0"/>
              <a:cs typeface="Verdana" pitchFamily="34" charset="0"/>
            </a:endParaRPr>
          </a:p>
          <a:p>
            <a:r>
              <a:rPr lang="fr-FR" sz="2100" dirty="0">
                <a:latin typeface="Verdana" pitchFamily="34" charset="0"/>
                <a:ea typeface="Verdana" pitchFamily="34" charset="0"/>
                <a:cs typeface="Verdana" pitchFamily="34" charset="0"/>
              </a:rPr>
              <a:t>System Design</a:t>
            </a:r>
          </a:p>
          <a:p>
            <a:pPr lvl="0"/>
            <a:r>
              <a:rPr lang="fr-FR" sz="2100" dirty="0" err="1">
                <a:latin typeface="Verdana" pitchFamily="34" charset="0"/>
                <a:ea typeface="Verdana" pitchFamily="34" charset="0"/>
                <a:cs typeface="Verdana" pitchFamily="34" charset="0"/>
              </a:rPr>
              <a:t>Results</a:t>
            </a:r>
            <a:r>
              <a:rPr lang="fr-FR" sz="2100" dirty="0">
                <a:latin typeface="Verdana" pitchFamily="34" charset="0"/>
                <a:ea typeface="Verdana" pitchFamily="34" charset="0"/>
                <a:cs typeface="Verdana" pitchFamily="34" charset="0"/>
              </a:rPr>
              <a:t> </a:t>
            </a:r>
          </a:p>
          <a:p>
            <a:pPr lvl="0"/>
            <a:r>
              <a:rPr lang="fr-FR" sz="2100" dirty="0">
                <a:latin typeface="Verdana" pitchFamily="34" charset="0"/>
                <a:ea typeface="Verdana" pitchFamily="34" charset="0"/>
              </a:rPr>
              <a:t>Conclusion</a:t>
            </a:r>
            <a:endParaRPr sz="2100" dirty="0"/>
          </a:p>
          <a:p>
            <a:endParaRPr lang="en-US" sz="2100" dirty="0"/>
          </a:p>
        </p:txBody>
      </p:sp>
      <p:sp>
        <p:nvSpPr>
          <p:cNvPr id="1048612"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a:t>
            </a:fld>
            <a:endParaRPr lang="e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048614"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cs typeface="Verdana" pitchFamily="34" charset="0"/>
              </a:rPr>
              <a:t>Problem Statement</a:t>
            </a:r>
            <a:endParaRPr sz="2800" dirty="0"/>
          </a:p>
        </p:txBody>
      </p:sp>
      <p:sp>
        <p:nvSpPr>
          <p:cNvPr id="1048615"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a:t>
            </a:fld>
            <a:endParaRPr lang="en"/>
          </a:p>
        </p:txBody>
      </p:sp>
      <p:sp>
        <p:nvSpPr>
          <p:cNvPr id="1048616" name="Content Placeholder 2"/>
          <p:cNvSpPr txBox="1"/>
          <p:nvPr/>
        </p:nvSpPr>
        <p:spPr>
          <a:xfrm>
            <a:off x="1064689" y="1491630"/>
            <a:ext cx="7014621" cy="2701927"/>
          </a:xfrm>
          <a:prstGeom prst="rect">
            <a:avLst/>
          </a:prstGeom>
          <a:noFill/>
          <a:ln>
            <a:no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marL="101600" indent="0" algn="just">
              <a:buNone/>
            </a:pPr>
            <a:r>
              <a:rPr lang="en-IN" dirty="0">
                <a:latin typeface="Times New Roman" panose="02020603050405020304" pitchFamily="18" charset="0"/>
                <a:cs typeface="Times New Roman" panose="02020603050405020304" pitchFamily="18" charset="0"/>
              </a:rPr>
              <a:t>	Traditional LAN-based chat applications may transmit messages in plain text, making sensitive information vulnerable to unauthorized access or network monitoring. There is a need for a simple and secure communication system that protects messages before they are transmitted over a local network. This project addresses the problem by developing a web-based LAN chat application that uses AES encryption to encrypt messages on the sender’s side and decrypt them only at the receiver’s side, while the server forwards only the encrypted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048624"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Objectives</a:t>
            </a:r>
            <a:endParaRPr sz="2800" dirty="0">
              <a:latin typeface="Verdana" pitchFamily="34" charset="0"/>
              <a:ea typeface="Verdana" pitchFamily="34" charset="0"/>
            </a:endParaRPr>
          </a:p>
        </p:txBody>
      </p:sp>
      <p:sp>
        <p:nvSpPr>
          <p:cNvPr id="1048625"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a:t>
            </a:fld>
            <a:endParaRPr lang="en"/>
          </a:p>
        </p:txBody>
      </p:sp>
      <p:sp>
        <p:nvSpPr>
          <p:cNvPr id="1048626" name="Content Placeholder 2"/>
          <p:cNvSpPr txBox="1"/>
          <p:nvPr/>
        </p:nvSpPr>
        <p:spPr>
          <a:xfrm>
            <a:off x="416617" y="1563638"/>
            <a:ext cx="8310765" cy="2917951"/>
          </a:xfrm>
          <a:prstGeom prst="rect">
            <a:avLst/>
          </a:prstGeom>
          <a:noFill/>
          <a:ln>
            <a:noFill/>
          </a:ln>
        </p:spPr>
        <p:txBody>
          <a:bodyPr spcFirstLastPara="1" wrap="square" lIns="91425" tIns="91425" rIns="91425" bIns="91425" anchor="t" anchorCtr="0">
            <a:normAutofit fontScale="92500"/>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Develop</a:t>
            </a:r>
            <a:r>
              <a:rPr lang="en-IN" dirty="0">
                <a:latin typeface="Times New Roman" panose="02020603050405020304" pitchFamily="18" charset="0"/>
                <a:cs typeface="Times New Roman" panose="02020603050405020304" pitchFamily="18" charset="0"/>
              </a:rPr>
              <a:t> a web-based secure chat application for LAN communication. </a:t>
            </a:r>
          </a:p>
          <a:p>
            <a:pPr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Encrypt</a:t>
            </a:r>
            <a:r>
              <a:rPr lang="en-IN" dirty="0">
                <a:latin typeface="Times New Roman" panose="02020603050405020304" pitchFamily="18" charset="0"/>
                <a:cs typeface="Times New Roman" panose="02020603050405020304" pitchFamily="18" charset="0"/>
              </a:rPr>
              <a:t> messages using the AES encryption algorithm before transmission. </a:t>
            </a:r>
          </a:p>
          <a:p>
            <a:pPr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Transmit</a:t>
            </a:r>
            <a:r>
              <a:rPr lang="en-IN" dirty="0">
                <a:latin typeface="Times New Roman" panose="02020603050405020304" pitchFamily="18" charset="0"/>
                <a:cs typeface="Times New Roman" panose="02020603050405020304" pitchFamily="18" charset="0"/>
              </a:rPr>
              <a:t> only encrypted data through the Node.js server. </a:t>
            </a:r>
          </a:p>
          <a:p>
            <a:pPr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Decrypt</a:t>
            </a:r>
            <a:r>
              <a:rPr lang="en-IN" dirty="0">
                <a:latin typeface="Times New Roman" panose="02020603050405020304" pitchFamily="18" charset="0"/>
                <a:cs typeface="Times New Roman" panose="02020603050405020304" pitchFamily="18" charset="0"/>
              </a:rPr>
              <a:t> messages at the receiver’s side using the shared secret key. </a:t>
            </a:r>
          </a:p>
          <a:p>
            <a:pPr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Demonstrate</a:t>
            </a:r>
            <a:r>
              <a:rPr lang="en-IN" dirty="0">
                <a:latin typeface="Times New Roman" panose="02020603050405020304" pitchFamily="18" charset="0"/>
                <a:cs typeface="Times New Roman" panose="02020603050405020304" pitchFamily="18" charset="0"/>
              </a:rPr>
              <a:t> secure and real-time communication using Socket.IO. </a:t>
            </a:r>
          </a:p>
          <a:p>
            <a:pPr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Provide</a:t>
            </a:r>
            <a:r>
              <a:rPr lang="en-IN" dirty="0">
                <a:latin typeface="Times New Roman" panose="02020603050405020304" pitchFamily="18" charset="0"/>
                <a:cs typeface="Times New Roman" panose="02020603050405020304" pitchFamily="18" charset="0"/>
              </a:rPr>
              <a:t> delivery confirmation to the sender after successful message delivery. </a:t>
            </a:r>
          </a:p>
          <a:p>
            <a:pPr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Prevent</a:t>
            </a:r>
            <a:r>
              <a:rPr lang="en-IN" dirty="0">
                <a:latin typeface="Times New Roman" panose="02020603050405020304" pitchFamily="18" charset="0"/>
                <a:cs typeface="Times New Roman" panose="02020603050405020304" pitchFamily="18" charset="0"/>
              </a:rPr>
              <a:t> the server from directly accessing the plaintext message.</a:t>
            </a:r>
          </a:p>
          <a:p>
            <a:pPr algn="just">
              <a:buFont typeface="Arial" panose="020B0604020202020204" pitchFamily="34" charset="0"/>
              <a:buChar char="•"/>
            </a:pPr>
            <a:endParaRPr lang="en-US" dirty="0">
              <a:latin typeface="Times New Roman" panose="02020603050405020304" pitchFamily="18" charset="0"/>
              <a:ea typeface="Verdana"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04862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400" dirty="0">
                <a:latin typeface="Verdana" pitchFamily="34" charset="0"/>
                <a:ea typeface="Verdana" pitchFamily="34" charset="0"/>
              </a:rPr>
              <a:t>Requirement Specification</a:t>
            </a:r>
            <a:endParaRPr sz="2400" dirty="0">
              <a:latin typeface="Verdana" pitchFamily="34" charset="0"/>
              <a:ea typeface="Verdana" pitchFamily="34" charset="0"/>
            </a:endParaRPr>
          </a:p>
        </p:txBody>
      </p:sp>
      <p:sp>
        <p:nvSpPr>
          <p:cNvPr id="1048630"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a:t>
            </a:fld>
            <a:endParaRPr lang="en"/>
          </a:p>
        </p:txBody>
      </p:sp>
      <p:sp>
        <p:nvSpPr>
          <p:cNvPr id="6" name="Rectangle: Rounded Corners 5">
            <a:extLst>
              <a:ext uri="{FF2B5EF4-FFF2-40B4-BE49-F238E27FC236}">
                <a16:creationId xmlns:a16="http://schemas.microsoft.com/office/drawing/2014/main" id="{7E54F939-3305-50B0-C466-7BAD34163DD8}"/>
              </a:ext>
            </a:extLst>
          </p:cNvPr>
          <p:cNvSpPr/>
          <p:nvPr/>
        </p:nvSpPr>
        <p:spPr>
          <a:xfrm>
            <a:off x="611560" y="1419622"/>
            <a:ext cx="3096344" cy="1656184"/>
          </a:xfrm>
          <a:prstGeom prst="roundRect">
            <a:avLst/>
          </a:prstGeom>
          <a:ln>
            <a:solidFill>
              <a:schemeClr val="tx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IN" sz="1200" b="1" dirty="0">
                <a:latin typeface="Times New Roman" panose="02020603050405020304" pitchFamily="18" charset="0"/>
                <a:cs typeface="Times New Roman" panose="02020603050405020304" pitchFamily="18" charset="0"/>
              </a:rPr>
              <a:t>Hardware Requirements</a:t>
            </a:r>
            <a:endParaRPr lang="en-IN" sz="12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Laptop/PC with minimum </a:t>
            </a:r>
            <a:r>
              <a:rPr lang="en-IN" sz="1200" b="1" dirty="0">
                <a:latin typeface="Times New Roman" panose="02020603050405020304" pitchFamily="18" charset="0"/>
                <a:cs typeface="Times New Roman" panose="02020603050405020304" pitchFamily="18" charset="0"/>
              </a:rPr>
              <a:t>4 GB RAM</a:t>
            </a:r>
            <a:r>
              <a:rPr lang="en-IN" sz="1200" dirty="0">
                <a:latin typeface="Times New Roman" panose="02020603050405020304" pitchFamily="18" charset="0"/>
                <a:cs typeface="Times New Roman" panose="02020603050405020304" pitchFamily="18" charset="0"/>
              </a:rPr>
              <a:t>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Smartphone or second computer for Client B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Wi-Fi router or mobile hotspot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Network connectivity between devices</a:t>
            </a:r>
          </a:p>
          <a:p>
            <a:pPr algn="ctr"/>
            <a:endParaRPr lang="en-IN" dirty="0"/>
          </a:p>
        </p:txBody>
      </p:sp>
      <p:sp>
        <p:nvSpPr>
          <p:cNvPr id="7" name="Rectangle: Rounded Corners 6">
            <a:extLst>
              <a:ext uri="{FF2B5EF4-FFF2-40B4-BE49-F238E27FC236}">
                <a16:creationId xmlns:a16="http://schemas.microsoft.com/office/drawing/2014/main" id="{1188EF40-C101-E5A0-DDC2-55F0480E5F19}"/>
              </a:ext>
            </a:extLst>
          </p:cNvPr>
          <p:cNvSpPr/>
          <p:nvPr/>
        </p:nvSpPr>
        <p:spPr>
          <a:xfrm>
            <a:off x="4860032" y="1419622"/>
            <a:ext cx="3096344" cy="1656184"/>
          </a:xfrm>
          <a:prstGeom prst="roundRect">
            <a:avLst/>
          </a:prstGeom>
          <a:ln>
            <a:solidFill>
              <a:schemeClr val="tx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endParaRPr lang="en-IN" sz="1100" b="1" dirty="0">
              <a:latin typeface="Times New Roman" panose="02020603050405020304" pitchFamily="18" charset="0"/>
              <a:cs typeface="Times New Roman" panose="02020603050405020304" pitchFamily="18" charset="0"/>
            </a:endParaRPr>
          </a:p>
          <a:p>
            <a:r>
              <a:rPr lang="en-IN" sz="1200" b="1" dirty="0">
                <a:latin typeface="Times New Roman" panose="02020603050405020304" pitchFamily="18" charset="0"/>
                <a:cs typeface="Times New Roman" panose="02020603050405020304" pitchFamily="18" charset="0"/>
              </a:rPr>
              <a:t>Software Requirements</a:t>
            </a:r>
            <a:endParaRPr lang="en-IN" sz="12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100" b="1" dirty="0">
                <a:latin typeface="Times New Roman" panose="02020603050405020304" pitchFamily="18" charset="0"/>
                <a:cs typeface="Times New Roman" panose="02020603050405020304" pitchFamily="18" charset="0"/>
              </a:rPr>
              <a:t>Operating System:</a:t>
            </a:r>
            <a:r>
              <a:rPr lang="en-IN" sz="1100" dirty="0">
                <a:latin typeface="Times New Roman" panose="02020603050405020304" pitchFamily="18" charset="0"/>
                <a:cs typeface="Times New Roman" panose="02020603050405020304" pitchFamily="18" charset="0"/>
              </a:rPr>
              <a:t> Windows / Linux / macOS </a:t>
            </a:r>
          </a:p>
          <a:p>
            <a:pPr marL="171450" lvl="0" indent="-171450">
              <a:buFont typeface="Arial" panose="020B0604020202020204" pitchFamily="34" charset="0"/>
              <a:buChar char="•"/>
            </a:pPr>
            <a:r>
              <a:rPr lang="en-IN" sz="1100" b="1" dirty="0">
                <a:latin typeface="Times New Roman" panose="02020603050405020304" pitchFamily="18" charset="0"/>
                <a:cs typeface="Times New Roman" panose="02020603050405020304" pitchFamily="18" charset="0"/>
              </a:rPr>
              <a:t>IDE:</a:t>
            </a:r>
            <a:r>
              <a:rPr lang="en-IN" sz="1100" dirty="0">
                <a:latin typeface="Times New Roman" panose="02020603050405020304" pitchFamily="18" charset="0"/>
                <a:cs typeface="Times New Roman" panose="02020603050405020304" pitchFamily="18" charset="0"/>
              </a:rPr>
              <a:t> Visual Studio Code </a:t>
            </a:r>
          </a:p>
          <a:p>
            <a:pPr marL="171450" lvl="0" indent="-171450">
              <a:buFont typeface="Arial" panose="020B0604020202020204" pitchFamily="34" charset="0"/>
              <a:buChar char="•"/>
            </a:pPr>
            <a:r>
              <a:rPr lang="en-IN" sz="1100" b="1" dirty="0">
                <a:latin typeface="Times New Roman" panose="02020603050405020304" pitchFamily="18" charset="0"/>
                <a:cs typeface="Times New Roman" panose="02020603050405020304" pitchFamily="18" charset="0"/>
              </a:rPr>
              <a:t>Runtime:</a:t>
            </a:r>
            <a:r>
              <a:rPr lang="en-IN" sz="1100" dirty="0">
                <a:latin typeface="Times New Roman" panose="02020603050405020304" pitchFamily="18" charset="0"/>
                <a:cs typeface="Times New Roman" panose="02020603050405020304" pitchFamily="18" charset="0"/>
              </a:rPr>
              <a:t> Node.js </a:t>
            </a:r>
          </a:p>
          <a:p>
            <a:pPr marL="171450" lvl="0" indent="-171450">
              <a:buFont typeface="Arial" panose="020B0604020202020204" pitchFamily="34" charset="0"/>
              <a:buChar char="•"/>
            </a:pPr>
            <a:r>
              <a:rPr lang="en-IN" sz="1100" b="1" dirty="0">
                <a:latin typeface="Times New Roman" panose="02020603050405020304" pitchFamily="18" charset="0"/>
                <a:cs typeface="Times New Roman" panose="02020603050405020304" pitchFamily="18" charset="0"/>
              </a:rPr>
              <a:t>Frontend:</a:t>
            </a:r>
            <a:r>
              <a:rPr lang="en-IN" sz="1100" dirty="0">
                <a:latin typeface="Times New Roman" panose="02020603050405020304" pitchFamily="18" charset="0"/>
                <a:cs typeface="Times New Roman" panose="02020603050405020304" pitchFamily="18" charset="0"/>
              </a:rPr>
              <a:t> HTML, CSS, JavaScript </a:t>
            </a:r>
          </a:p>
          <a:p>
            <a:pPr marL="171450" lvl="0" indent="-171450">
              <a:buFont typeface="Arial" panose="020B0604020202020204" pitchFamily="34" charset="0"/>
              <a:buChar char="•"/>
            </a:pPr>
            <a:r>
              <a:rPr lang="en-IN" sz="1100" b="1" dirty="0">
                <a:latin typeface="Times New Roman" panose="02020603050405020304" pitchFamily="18" charset="0"/>
                <a:cs typeface="Times New Roman" panose="02020603050405020304" pitchFamily="18" charset="0"/>
              </a:rPr>
              <a:t>Backend:</a:t>
            </a:r>
            <a:r>
              <a:rPr lang="en-IN" sz="1100" dirty="0">
                <a:latin typeface="Times New Roman" panose="02020603050405020304" pitchFamily="18" charset="0"/>
                <a:cs typeface="Times New Roman" panose="02020603050405020304" pitchFamily="18" charset="0"/>
              </a:rPr>
              <a:t> Express.js, Socket.IO </a:t>
            </a:r>
          </a:p>
          <a:p>
            <a:pPr marL="171450" lvl="0" indent="-171450">
              <a:buFont typeface="Arial" panose="020B0604020202020204" pitchFamily="34" charset="0"/>
              <a:buChar char="•"/>
            </a:pPr>
            <a:r>
              <a:rPr lang="en-IN" sz="1100" b="1" dirty="0">
                <a:latin typeface="Times New Roman" panose="02020603050405020304" pitchFamily="18" charset="0"/>
                <a:cs typeface="Times New Roman" panose="02020603050405020304" pitchFamily="18" charset="0"/>
              </a:rPr>
              <a:t>Encryption Library:</a:t>
            </a:r>
            <a:r>
              <a:rPr lang="en-IN" sz="1100" dirty="0">
                <a:latin typeface="Times New Roman" panose="02020603050405020304" pitchFamily="18" charset="0"/>
                <a:cs typeface="Times New Roman" panose="02020603050405020304" pitchFamily="18" charset="0"/>
              </a:rPr>
              <a:t> </a:t>
            </a:r>
            <a:r>
              <a:rPr lang="en-IN" sz="1100" dirty="0" err="1">
                <a:latin typeface="Times New Roman" panose="02020603050405020304" pitchFamily="18" charset="0"/>
                <a:cs typeface="Times New Roman" panose="02020603050405020304" pitchFamily="18" charset="0"/>
              </a:rPr>
              <a:t>CryptoJS</a:t>
            </a:r>
            <a:r>
              <a:rPr lang="en-IN" sz="1100" dirty="0">
                <a:latin typeface="Times New Roman" panose="02020603050405020304" pitchFamily="18" charset="0"/>
                <a:cs typeface="Times New Roman" panose="02020603050405020304" pitchFamily="18" charset="0"/>
              </a:rPr>
              <a:t> </a:t>
            </a:r>
          </a:p>
          <a:p>
            <a:pPr marL="171450" lvl="0" indent="-171450">
              <a:buFont typeface="Arial" panose="020B0604020202020204" pitchFamily="34" charset="0"/>
              <a:buChar char="•"/>
            </a:pPr>
            <a:r>
              <a:rPr lang="en-IN" sz="1100" b="1" dirty="0">
                <a:latin typeface="Times New Roman" panose="02020603050405020304" pitchFamily="18" charset="0"/>
                <a:cs typeface="Times New Roman" panose="02020603050405020304" pitchFamily="18" charset="0"/>
              </a:rPr>
              <a:t>Browser:</a:t>
            </a:r>
            <a:r>
              <a:rPr lang="en-IN" sz="1100" dirty="0">
                <a:latin typeface="Times New Roman" panose="02020603050405020304" pitchFamily="18" charset="0"/>
                <a:cs typeface="Times New Roman" panose="02020603050405020304" pitchFamily="18" charset="0"/>
              </a:rPr>
              <a:t> Google Chrome / Microsoft Edge</a:t>
            </a:r>
          </a:p>
          <a:p>
            <a:pPr algn="ctr"/>
            <a:endParaRPr lang="en-IN" sz="1100" dirty="0">
              <a:latin typeface="Times New Roman" panose="02020603050405020304" pitchFamily="18" charset="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5A89EFC5-5BA6-825D-3C80-D3F62D3A01E4}"/>
              </a:ext>
            </a:extLst>
          </p:cNvPr>
          <p:cNvSpPr/>
          <p:nvPr/>
        </p:nvSpPr>
        <p:spPr>
          <a:xfrm>
            <a:off x="2699792" y="3267030"/>
            <a:ext cx="3096344" cy="1656184"/>
          </a:xfrm>
          <a:prstGeom prst="roundRect">
            <a:avLst/>
          </a:prstGeom>
          <a:ln>
            <a:solidFill>
              <a:schemeClr val="tx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IN" sz="1200" b="1" dirty="0">
                <a:latin typeface="Times New Roman" panose="02020603050405020304" pitchFamily="18" charset="0"/>
                <a:cs typeface="Times New Roman" panose="02020603050405020304" pitchFamily="18" charset="0"/>
              </a:rPr>
              <a:t>Dataset Specification</a:t>
            </a:r>
            <a:endParaRPr lang="en-IN" sz="12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Dataset: Not required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Uses user-entered text messages as input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Messages are encrypted using AES before transmission </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No external or pre-existing dataset is used</a:t>
            </a:r>
          </a:p>
          <a:p>
            <a:pPr algn="ct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Title 1"/>
          <p:cNvSpPr>
            <a:spLocks noGrp="1"/>
          </p:cNvSpPr>
          <p:nvPr>
            <p:ph type="title"/>
          </p:nvPr>
        </p:nvSpPr>
        <p:spPr/>
        <p:txBody>
          <a:bodyPr/>
          <a:lstStyle/>
          <a:p>
            <a:r>
              <a:rPr lang="en-US" sz="2800" dirty="0">
                <a:latin typeface="Verdana" pitchFamily="34" charset="0"/>
                <a:ea typeface="Verdana" pitchFamily="34" charset="0"/>
              </a:rPr>
              <a:t>System Design</a:t>
            </a:r>
          </a:p>
        </p:txBody>
      </p:sp>
      <p:pic>
        <p:nvPicPr>
          <p:cNvPr id="2" name="Picture 1" descr="Secure LAN Chat Diagram">
            <a:extLst>
              <a:ext uri="{FF2B5EF4-FFF2-40B4-BE49-F238E27FC236}">
                <a16:creationId xmlns:a16="http://schemas.microsoft.com/office/drawing/2014/main" id="{76C50C2F-161B-BF4B-2C48-0E7548FFEF6A}"/>
              </a:ext>
            </a:extLst>
          </p:cNvPr>
          <p:cNvPicPr>
            <a:picLocks noChangeAspect="1"/>
          </p:cNvPicPr>
          <p:nvPr/>
        </p:nvPicPr>
        <p:blipFill>
          <a:blip r:embed="rId2"/>
          <a:srcRect t="13277"/>
          <a:stretch>
            <a:fillRect/>
          </a:stretch>
        </p:blipFill>
        <p:spPr>
          <a:xfrm>
            <a:off x="1115616" y="1443503"/>
            <a:ext cx="6271975" cy="3172438"/>
          </a:xfrm>
          <a:prstGeom prst="rect">
            <a:avLst/>
          </a:prstGeom>
        </p:spPr>
      </p:pic>
      <p:sp>
        <p:nvSpPr>
          <p:cNvPr id="1048636"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6</a:t>
            </a:fld>
            <a:endParaRPr lang="e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048642"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cs typeface="Verdana" pitchFamily="34" charset="0"/>
              </a:rPr>
              <a:t>Results</a:t>
            </a:r>
            <a:endParaRPr sz="2800" dirty="0"/>
          </a:p>
        </p:txBody>
      </p:sp>
      <p:sp>
        <p:nvSpPr>
          <p:cNvPr id="1048643"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a:t>
            </a:fld>
            <a:endParaRPr lang="en"/>
          </a:p>
        </p:txBody>
      </p:sp>
      <p:sp>
        <p:nvSpPr>
          <p:cNvPr id="1048644" name="Content Placeholder 2"/>
          <p:cNvSpPr txBox="1"/>
          <p:nvPr/>
        </p:nvSpPr>
        <p:spPr>
          <a:xfrm>
            <a:off x="317544" y="1491630"/>
            <a:ext cx="4566349" cy="2989959"/>
          </a:xfrm>
          <a:prstGeom prst="rect">
            <a:avLst/>
          </a:prstGeom>
          <a:noFill/>
          <a:ln>
            <a:noFill/>
          </a:ln>
        </p:spPr>
        <p:txBody>
          <a:bodyPr spcFirstLastPara="1" wrap="square" lIns="91425" tIns="91425" rIns="91425" bIns="91425" anchor="t" anchorCtr="0">
            <a:normAutofit fontScale="85000" lnSpcReduction="10000"/>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lvl="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Successfully established communication between Client A and Client B over LAN. </a:t>
            </a:r>
          </a:p>
          <a:p>
            <a:pPr lvl="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Encrypted messages using the AES algorithm before transmission. </a:t>
            </a:r>
          </a:p>
          <a:p>
            <a:pPr lvl="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Displayed ciphertext at the receiving client. </a:t>
            </a:r>
          </a:p>
          <a:p>
            <a:pPr lvl="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Successfully decrypted the message using the shared secret key. </a:t>
            </a:r>
          </a:p>
          <a:p>
            <a:pPr lvl="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Provided delivery confirmation to the sender. </a:t>
            </a:r>
          </a:p>
          <a:p>
            <a:pPr lvl="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Demonstrated that the server forwards encrypted data without reading the plaintext.</a:t>
            </a:r>
          </a:p>
        </p:txBody>
      </p:sp>
      <p:pic>
        <p:nvPicPr>
          <p:cNvPr id="3" name="Picture 2">
            <a:extLst>
              <a:ext uri="{FF2B5EF4-FFF2-40B4-BE49-F238E27FC236}">
                <a16:creationId xmlns:a16="http://schemas.microsoft.com/office/drawing/2014/main" id="{9DE79760-4710-C09A-5418-D9ADD32CBC0A}"/>
              </a:ext>
            </a:extLst>
          </p:cNvPr>
          <p:cNvPicPr>
            <a:picLocks noChangeAspect="1"/>
          </p:cNvPicPr>
          <p:nvPr/>
        </p:nvPicPr>
        <p:blipFill>
          <a:blip r:embed="rId3"/>
          <a:stretch>
            <a:fillRect/>
          </a:stretch>
        </p:blipFill>
        <p:spPr>
          <a:xfrm>
            <a:off x="5121544" y="1641584"/>
            <a:ext cx="3704912" cy="2274098"/>
          </a:xfrm>
          <a:prstGeom prst="rect">
            <a:avLst/>
          </a:prstGeom>
        </p:spPr>
      </p:pic>
      <p:sp>
        <p:nvSpPr>
          <p:cNvPr id="5" name="TextBox 4">
            <a:extLst>
              <a:ext uri="{FF2B5EF4-FFF2-40B4-BE49-F238E27FC236}">
                <a16:creationId xmlns:a16="http://schemas.microsoft.com/office/drawing/2014/main" id="{03A801BD-E7A8-34BD-8622-142B81BEA7F9}"/>
              </a:ext>
            </a:extLst>
          </p:cNvPr>
          <p:cNvSpPr txBox="1"/>
          <p:nvPr/>
        </p:nvSpPr>
        <p:spPr>
          <a:xfrm>
            <a:off x="5190560" y="3579862"/>
            <a:ext cx="3635896" cy="769441"/>
          </a:xfrm>
          <a:prstGeom prst="rect">
            <a:avLst/>
          </a:prstGeom>
          <a:noFill/>
        </p:spPr>
        <p:txBody>
          <a:bodyPr wrap="square" rtlCol="0">
            <a:spAutoFit/>
          </a:bodyPr>
          <a:lstStyle/>
          <a:p>
            <a:endParaRPr lang="en-IN" sz="1100" i="1" dirty="0">
              <a:latin typeface="Times New Roman" panose="02020603050405020304" pitchFamily="18" charset="0"/>
              <a:cs typeface="Times New Roman" panose="02020603050405020304" pitchFamily="18" charset="0"/>
            </a:endParaRPr>
          </a:p>
          <a:p>
            <a:endParaRPr lang="en-IN" sz="1100" i="1" dirty="0">
              <a:latin typeface="Times New Roman" panose="02020603050405020304" pitchFamily="18" charset="0"/>
              <a:cs typeface="Times New Roman" panose="02020603050405020304" pitchFamily="18" charset="0"/>
            </a:endParaRPr>
          </a:p>
          <a:p>
            <a:r>
              <a:rPr lang="en-IN" sz="1100" i="1" dirty="0">
                <a:latin typeface="Times New Roman" panose="02020603050405020304" pitchFamily="18" charset="0"/>
                <a:cs typeface="Times New Roman" panose="02020603050405020304" pitchFamily="18" charset="0"/>
              </a:rPr>
              <a:t>Figure 1: Secure LAN Chat showing AES-encrypted message transmission and successful decryption.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048652"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Conclusion</a:t>
            </a:r>
            <a:endParaRPr sz="2800" dirty="0">
              <a:latin typeface="Verdana" pitchFamily="34" charset="0"/>
              <a:ea typeface="Verdana" pitchFamily="34" charset="0"/>
            </a:endParaRPr>
          </a:p>
        </p:txBody>
      </p:sp>
      <p:sp>
        <p:nvSpPr>
          <p:cNvPr id="1048653"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8</a:t>
            </a:fld>
            <a:endParaRPr lang="en"/>
          </a:p>
        </p:txBody>
      </p:sp>
      <p:sp>
        <p:nvSpPr>
          <p:cNvPr id="1048654" name="Content Placeholder 2"/>
          <p:cNvSpPr txBox="1"/>
          <p:nvPr/>
        </p:nvSpPr>
        <p:spPr>
          <a:xfrm>
            <a:off x="452621" y="1707654"/>
            <a:ext cx="8238757" cy="3512128"/>
          </a:xfrm>
          <a:prstGeom prst="rect">
            <a:avLst/>
          </a:prstGeom>
          <a:noFill/>
          <a:ln>
            <a:noFill/>
          </a:ln>
        </p:spPr>
        <p:txBody>
          <a:bodyPr spcFirstLastPara="1" wrap="square" lIns="91425" tIns="91425" rIns="91425" bIns="91425" anchor="t" anchorCtr="0">
            <a:normAutofit fontScale="85000" lnSpcReduction="10000"/>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lvl="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Developed</a:t>
            </a:r>
            <a:r>
              <a:rPr lang="en-IN" dirty="0">
                <a:latin typeface="Times New Roman" panose="02020603050405020304" pitchFamily="18" charset="0"/>
                <a:cs typeface="Times New Roman" panose="02020603050405020304" pitchFamily="18" charset="0"/>
              </a:rPr>
              <a:t> a web-based Secure LAN Chat application for real-time communication. </a:t>
            </a:r>
          </a:p>
          <a:p>
            <a:pPr lvl="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Implemented</a:t>
            </a:r>
            <a:r>
              <a:rPr lang="en-IN" dirty="0">
                <a:latin typeface="Times New Roman" panose="02020603050405020304" pitchFamily="18" charset="0"/>
                <a:cs typeface="Times New Roman" panose="02020603050405020304" pitchFamily="18" charset="0"/>
              </a:rPr>
              <a:t> AES encryption to protect messages before network transmission. </a:t>
            </a:r>
          </a:p>
          <a:p>
            <a:pPr lvl="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Established</a:t>
            </a:r>
            <a:r>
              <a:rPr lang="en-IN" dirty="0">
                <a:latin typeface="Times New Roman" panose="02020603050405020304" pitchFamily="18" charset="0"/>
                <a:cs typeface="Times New Roman" panose="02020603050405020304" pitchFamily="18" charset="0"/>
              </a:rPr>
              <a:t> real-time client communication using Node.js, Express.js, and Socket.IO. </a:t>
            </a:r>
          </a:p>
          <a:p>
            <a:pPr lvl="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Enabled</a:t>
            </a:r>
            <a:r>
              <a:rPr lang="en-IN" dirty="0">
                <a:latin typeface="Times New Roman" panose="02020603050405020304" pitchFamily="18" charset="0"/>
                <a:cs typeface="Times New Roman" panose="02020603050405020304" pitchFamily="18" charset="0"/>
              </a:rPr>
              <a:t> the receiver to decrypt encrypted messages using the shared secret key. </a:t>
            </a:r>
          </a:p>
          <a:p>
            <a:pPr lvl="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Ensured</a:t>
            </a:r>
            <a:r>
              <a:rPr lang="en-IN" dirty="0">
                <a:latin typeface="Times New Roman" panose="02020603050405020304" pitchFamily="18" charset="0"/>
                <a:cs typeface="Times New Roman" panose="02020603050405020304" pitchFamily="18" charset="0"/>
              </a:rPr>
              <a:t> that the server forwards ciphertext without directly accessing plaintext. </a:t>
            </a:r>
          </a:p>
          <a:p>
            <a:pPr lvl="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Demonstrated</a:t>
            </a:r>
            <a:r>
              <a:rPr lang="en-IN" dirty="0">
                <a:latin typeface="Times New Roman" panose="02020603050405020304" pitchFamily="18" charset="0"/>
                <a:cs typeface="Times New Roman" panose="02020603050405020304" pitchFamily="18" charset="0"/>
              </a:rPr>
              <a:t> secure message delivery between two LAN-connected clients. </a:t>
            </a:r>
          </a:p>
          <a:p>
            <a:pPr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Successfully achieved</a:t>
            </a:r>
            <a:r>
              <a:rPr lang="en-IN" dirty="0">
                <a:latin typeface="Times New Roman" panose="02020603050405020304" pitchFamily="18" charset="0"/>
                <a:cs typeface="Times New Roman" panose="02020603050405020304" pitchFamily="18" charset="0"/>
              </a:rPr>
              <a:t> the objective of combining computer networking with basic data security.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FFD966"/>
            </a:gs>
            <a:gs pos="100000">
              <a:srgbClr val="FF9900"/>
            </a:gs>
          </a:gsLst>
          <a:path path="circle">
            <a:fillToRect l="50000" t="50000" r="50000" b="50000"/>
          </a:path>
        </a:gradFill>
        <a:effectLst/>
      </p:bgPr>
    </p:bg>
    <p:spTree>
      <p:nvGrpSpPr>
        <p:cNvPr id="1" name="Shape 1446"/>
        <p:cNvGrpSpPr/>
        <p:nvPr/>
      </p:nvGrpSpPr>
      <p:grpSpPr>
        <a:xfrm>
          <a:off x="0" y="0"/>
          <a:ext cx="0" cy="0"/>
          <a:chOff x="0" y="0"/>
          <a:chExt cx="0" cy="0"/>
        </a:xfrm>
      </p:grpSpPr>
      <p:sp>
        <p:nvSpPr>
          <p:cNvPr id="1048671" name="Google Shape;1448;p40"/>
          <p:cNvSpPr txBox="1"/>
          <p:nvPr/>
        </p:nvSpPr>
        <p:spPr>
          <a:xfrm>
            <a:off x="1106100" y="2139702"/>
            <a:ext cx="6931800" cy="267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5400" b="1" dirty="0">
                <a:solidFill>
                  <a:srgbClr val="434343"/>
                </a:solidFill>
                <a:latin typeface="Times New Roman" panose="02020603050405020304" pitchFamily="18" charset="0"/>
                <a:ea typeface="Montserrat"/>
                <a:cs typeface="Times New Roman" panose="02020603050405020304" pitchFamily="18" charset="0"/>
                <a:sym typeface="Montserrat"/>
              </a:rPr>
              <a:t>Thank You</a:t>
            </a:r>
            <a:endParaRPr sz="5400" b="1" dirty="0">
              <a:solidFill>
                <a:srgbClr val="434343"/>
              </a:solidFill>
              <a:latin typeface="Times New Roman" panose="02020603050405020304" pitchFamily="18" charset="0"/>
              <a:ea typeface="Montserrat"/>
              <a:cs typeface="Times New Roman" panose="02020603050405020304" pitchFamily="18" charset="0"/>
              <a:sym typeface="Montserrat"/>
            </a:endParaRPr>
          </a:p>
        </p:txBody>
      </p:sp>
    </p:spTree>
  </p:cSld>
  <p:clrMapOvr>
    <a:masterClrMapping/>
  </p:clrMapOvr>
</p:sld>
</file>

<file path=ppt/theme/theme1.xml><?xml version="1.0" encoding="utf-8"?>
<a:theme xmlns:a="http://schemas.openxmlformats.org/drawingml/2006/main" name="Salerio template">
  <a:themeElements>
    <a:clrScheme name="Custom 347">
      <a:dk1>
        <a:srgbClr val="263248"/>
      </a:dk1>
      <a:lt1>
        <a:srgbClr val="FFFFFF"/>
      </a:lt1>
      <a:dk2>
        <a:srgbClr val="434343"/>
      </a:dk2>
      <a:lt2>
        <a:srgbClr val="E0E4E9"/>
      </a:lt2>
      <a:accent1>
        <a:srgbClr val="3F5378"/>
      </a:accent1>
      <a:accent2>
        <a:srgbClr val="263248"/>
      </a:accent2>
      <a:accent3>
        <a:srgbClr val="92A8C8"/>
      </a:accent3>
      <a:accent4>
        <a:srgbClr val="C7D3E6"/>
      </a:accent4>
      <a:accent5>
        <a:srgbClr val="FF9800"/>
      </a:accent5>
      <a:accent6>
        <a:srgbClr val="D26F00"/>
      </a:accent6>
      <a:hlink>
        <a:srgbClr val="3F5378"/>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TotalTime>
  <Words>468</Words>
  <Application>Microsoft Office PowerPoint</Application>
  <PresentationFormat>On-screen Show (16:9)</PresentationFormat>
  <Paragraphs>68</Paragraphs>
  <Slides>9</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Roboto Condensed</vt:lpstr>
      <vt:lpstr>Roboto Condensed Light</vt:lpstr>
      <vt:lpstr>Times New Roman</vt:lpstr>
      <vt:lpstr>Arvo</vt:lpstr>
      <vt:lpstr>Verdana</vt:lpstr>
      <vt:lpstr>Salerio template</vt:lpstr>
      <vt:lpstr>Secure LAN Chat Using AES Encryption</vt:lpstr>
      <vt:lpstr>CONTENTS</vt:lpstr>
      <vt:lpstr>Problem Statement</vt:lpstr>
      <vt:lpstr>Objectives</vt:lpstr>
      <vt:lpstr>Requirement Specification</vt:lpstr>
      <vt:lpstr>System Design</vt:lpstr>
      <vt:lpstr>Results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janani.s</dc:creator>
  <cp:lastModifiedBy>Benedict Joshua M</cp:lastModifiedBy>
  <cp:revision>4</cp:revision>
  <dcterms:created xsi:type="dcterms:W3CDTF">2022-07-08T13:56:45Z</dcterms:created>
  <dcterms:modified xsi:type="dcterms:W3CDTF">2026-10-06T18:24:02Z</dcterms:modified>
</cp:coreProperties>
</file>